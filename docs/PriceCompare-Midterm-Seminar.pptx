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8ab9481-0b18-6b02-761c-d3a8f36270dc}">
          <p14:sldIdLst>
            <p14:sldId id="256"/>
          </p14:sldIdLst>
        </p14:section>
        <p14:section name="Problem and goals" id="{9803da96-d84d-9cf1-7284-91a0e7077d10}">
          <p14:sldIdLst>
            <p14:sldId id="257"/>
            <p14:sldId id="258"/>
            <p14:sldId id="259"/>
          </p14:sldIdLst>
        </p14:section>
        <p14:section name="Design" id="{e68af858-a761-dc21-b59f-543724d60f4f}">
          <p14:sldIdLst>
            <p14:sldId id="260"/>
            <p14:sldId id="261"/>
            <p14:sldId id="262"/>
          </p14:sldIdLst>
        </p14:section>
        <p14:section name="What was built" id="{06fed50d-29ee-6cd7-ad85-f250d238d605}">
          <p14:sldIdLst>
            <p14:sldId id="263"/>
            <p14:sldId id="264"/>
          </p14:sldIdLst>
        </p14:section>
        <p14:section name="Results" id="{8cab12d7-8923-823e-f77d-5f812cd7da95}">
          <p14:sldIdLst>
            <p14:sldId id="265"/>
            <p14:sldId id="266"/>
          </p14:sldIdLst>
        </p14:section>
        <p14:section name="Looking ahead" id="{e82e168c-6db1-06c6-a3ea-61283d2a6774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(Jaccard + basic guards)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78.6</c:v>
                </c:pt>
                <c:pt idx="1">
                  <c:v>82.5</c:v>
                </c:pt>
                <c:pt idx="2">
                  <c:v>80.8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Now (improved guards + fuzzy)</c:v>
                </c:pt>
              </c:strCache>
            </c:strRef>
          </c:tx>
          <c:spPr>
            <a:solidFill>
              <a:srgbClr val="5B5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92.7</c:v>
                </c:pt>
                <c:pt idx="1">
                  <c:v>95</c:v>
                </c:pt>
                <c:pt idx="2">
                  <c:v>93.6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F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one search, six Indian stores, side-by-side prices, price history and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three real titles for one phone. The point: a tool must recognise these as one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exposed real bugs: single-digit model numbers were dropped, RAM and storage only needed one shared value, 'with MagSafe Case' was treated as an accessory. Fixing them moved accuracy from 80.8% to 93.6%. Five hard cases remain, e.g. MX Master vs MX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PriceCompare · Midterm Seminar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PriceCompare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Cross-store price comparison with product matching and price tracking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Midterm seminar · October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Presented by: ____________________    Guide: ____________________</a:t>
            </a:r>
            <a:endParaRPr lang="en-US" sz="1300" dirty="0"/>
          </a:p>
        </p:txBody>
      </p:sp>
      <p:sp>
        <p:nvSpPr>
          <p:cNvPr id="5" name="logo"/>
          <p:cNvSpPr/>
          <p:nvPr/>
        </p:nvSpPr>
        <p:spPr>
          <a:xfrm>
            <a:off x="640080" y="731520"/>
            <a:ext cx="822960" cy="8229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⚖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problem: same product, six stores, six names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Prices for the same electronics differ by 5–15% between Indian stores, and change daily.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Comparing by hand means six searches, six result pages, six naming styles.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Accessories (cases, chargers) clutter every search for a phone.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store tells you whether today's price is actually a good one.</a:t>
            </a:r>
            <a:endParaRPr lang="en-US" sz="1500" dirty="0"/>
          </a:p>
        </p:txBody>
      </p:sp>
      <p:sp>
        <p:nvSpPr>
          <p:cNvPr id="4" name="ex-0"/>
          <p:cNvSpPr/>
          <p:nvPr/>
        </p:nvSpPr>
        <p:spPr>
          <a:xfrm>
            <a:off x="5029200" y="1234440"/>
            <a:ext cx="3657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Amazon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Apple iPhone 15 (128 GB) - Black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₹69,900</a:t>
            </a:r>
            <a:endParaRPr lang="en-US" sz="1600" dirty="0"/>
          </a:p>
        </p:txBody>
      </p:sp>
      <p:sp>
        <p:nvSpPr>
          <p:cNvPr id="8" name="ex-1"/>
          <p:cNvSpPr/>
          <p:nvPr/>
        </p:nvSpPr>
        <p:spPr>
          <a:xfrm>
            <a:off x="5029200" y="2194560"/>
            <a:ext cx="3657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Flipkart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APPLE iPhone 15 (Black, 128 GB)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₹66,999</a:t>
            </a:r>
            <a:endParaRPr lang="en-US" sz="1600" dirty="0"/>
          </a:p>
        </p:txBody>
      </p:sp>
      <p:sp>
        <p:nvSpPr>
          <p:cNvPr id="12" name="ex-2"/>
          <p:cNvSpPr/>
          <p:nvPr/>
        </p:nvSpPr>
        <p:spPr>
          <a:xfrm>
            <a:off x="5029200" y="3154680"/>
            <a:ext cx="3657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Reliance Digital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Apple iPhone 15 128 GB Black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₹59,900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Same phone, three titles, ₹10,000 apart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" name="obj-0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-label-1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Search all stores at once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One query, six stores in parallel; a failing store never breaks the search.</a:t>
            </a:r>
            <a:endParaRPr lang="en-US" sz="1150" dirty="0"/>
          </a:p>
        </p:txBody>
      </p:sp>
      <p:sp>
        <p:nvSpPr>
          <p:cNvPr id="8" name="obj-1"/>
          <p:cNvSpPr/>
          <p:nvPr/>
        </p:nvSpPr>
        <p:spPr>
          <a:xfrm>
            <a:off x="329184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9" name="num-2"/>
          <p:cNvSpPr/>
          <p:nvPr/>
        </p:nvSpPr>
        <p:spPr>
          <a:xfrm>
            <a:off x="347472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-label-2"/>
          <p:cNvSpPr txBox="1"/>
          <p:nvPr/>
        </p:nvSpPr>
        <p:spPr>
          <a:xfrm>
            <a:off x="3474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Match the same product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Group listings across stores while keeping 128 GB / 256 GB / Pro / Plus apart.</a:t>
            </a:r>
            <a:endParaRPr lang="en-US" sz="1150" dirty="0"/>
          </a:p>
        </p:txBody>
      </p:sp>
      <p:sp>
        <p:nvSpPr>
          <p:cNvPr id="13" name="obj-2"/>
          <p:cNvSpPr/>
          <p:nvPr/>
        </p:nvSpPr>
        <p:spPr>
          <a:xfrm>
            <a:off x="612648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4" name="num-3"/>
          <p:cNvSpPr/>
          <p:nvPr/>
        </p:nvSpPr>
        <p:spPr>
          <a:xfrm>
            <a:off x="63093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-label-3"/>
          <p:cNvSpPr txBox="1"/>
          <p:nvPr/>
        </p:nvSpPr>
        <p:spPr>
          <a:xfrm>
            <a:off x="6309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Compare side by side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Lowest price and saving highlighted; results appear as each store answers.</a:t>
            </a:r>
            <a:endParaRPr lang="en-US" sz="1150" dirty="0"/>
          </a:p>
        </p:txBody>
      </p:sp>
      <p:sp>
        <p:nvSpPr>
          <p:cNvPr id="18" name="obj-3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9" name="num-4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-label-4"/>
          <p:cNvSpPr txBox="1"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Track prices daily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Record prices every day and show a 30-day trend per product.</a:t>
            </a:r>
            <a:endParaRPr lang="en-US" sz="1150" dirty="0"/>
          </a:p>
        </p:txBody>
      </p:sp>
      <p:sp>
        <p:nvSpPr>
          <p:cNvPr id="23" name="obj-4"/>
          <p:cNvSpPr/>
          <p:nvPr/>
        </p:nvSpPr>
        <p:spPr>
          <a:xfrm>
            <a:off x="329184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24" name="num-5"/>
          <p:cNvSpPr/>
          <p:nvPr/>
        </p:nvSpPr>
        <p:spPr>
          <a:xfrm>
            <a:off x="347472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um-label-5"/>
          <p:cNvSpPr txBox="1"/>
          <p:nvPr/>
        </p:nvSpPr>
        <p:spPr>
          <a:xfrm>
            <a:off x="34747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Alert on price drops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Email the user when any store goes below a target price.</a:t>
            </a:r>
            <a:endParaRPr lang="en-US" sz="1150" dirty="0"/>
          </a:p>
        </p:txBody>
      </p:sp>
      <p:sp>
        <p:nvSpPr>
          <p:cNvPr id="28" name="obj-5"/>
          <p:cNvSpPr/>
          <p:nvPr/>
        </p:nvSpPr>
        <p:spPr>
          <a:xfrm>
            <a:off x="612648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29" name="num-6"/>
          <p:cNvSpPr/>
          <p:nvPr/>
        </p:nvSpPr>
        <p:spPr>
          <a:xfrm>
            <a:off x="630936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num-label-6"/>
          <p:cNvSpPr txBox="1"/>
          <p:nvPr/>
        </p:nvSpPr>
        <p:spPr>
          <a:xfrm>
            <a:off x="6309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Measure quality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Automated tests, and matcher accuracy on a labelled dataset.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exists today, and the gap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misses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Store search pages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One store at a time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No cross-store view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Google Shopping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Merchant data feeds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Coverage depends on feeds; little history for Indian stores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Price-tracker sites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Track one listing URL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No matching across stores; user finds every URL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Browser extensions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Overlay on a product page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Only once you are already on a product page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5BF6"/>
                          </a:solidFill>
                        </a:rPr>
                        <a:t>PriceCompare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Live multi-store search + automatic matching + history + alerts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3"/>
                          </a:solidFill>
                        </a:rPr>
                        <a:t>Open source, no paid feeds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arch-Browser"/>
          <p:cNvSpPr/>
          <p:nvPr/>
        </p:nvSpPr>
        <p:spPr>
          <a:xfrm>
            <a:off x="457200" y="1280160"/>
            <a:ext cx="1554480" cy="5486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Browser</a:t>
            </a:r>
            <a:endParaRPr lang="en-US" sz="1200" dirty="0"/>
          </a:p>
        </p:txBody>
      </p:sp>
      <p:sp>
        <p:nvSpPr>
          <p:cNvPr id="5" name="arch-FastAPI routes"/>
          <p:cNvSpPr/>
          <p:nvPr/>
        </p:nvSpPr>
        <p:spPr>
          <a:xfrm>
            <a:off x="2651760" y="1280160"/>
            <a:ext cx="173736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51760" y="1280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FastAPI routes</a:t>
            </a:r>
            <a:endParaRPr lang="en-US" sz="1200" dirty="0"/>
          </a:p>
        </p:txBody>
      </p:sp>
      <p:sp>
        <p:nvSpPr>
          <p:cNvPr id="7" name="arch-Search service"/>
          <p:cNvSpPr/>
          <p:nvPr/>
        </p:nvSpPr>
        <p:spPr>
          <a:xfrm>
            <a:off x="5029200" y="1280160"/>
            <a:ext cx="173736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280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Search service</a:t>
            </a:r>
            <a:endParaRPr lang="en-US" sz="1200" dirty="0"/>
          </a:p>
        </p:txBody>
      </p:sp>
      <p:sp>
        <p:nvSpPr>
          <p:cNvPr id="9" name="arch-SQLite"/>
          <p:cNvSpPr/>
          <p:nvPr/>
        </p:nvSpPr>
        <p:spPr>
          <a:xfrm>
            <a:off x="7315200" y="1280160"/>
            <a:ext cx="137160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1280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SQLite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2011680" y="155448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>
            <a:off x="4389120" y="155448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6766560" y="15544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9494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cache · search log · price history · alerts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pages + JSON API</a:t>
            </a:r>
            <a:endParaRPr lang="en-US" sz="900" dirty="0"/>
          </a:p>
        </p:txBody>
      </p:sp>
      <p:sp>
        <p:nvSpPr>
          <p:cNvPr id="16" name="arrow"/>
          <p:cNvSpPr/>
          <p:nvPr/>
        </p:nvSpPr>
        <p:spPr>
          <a:xfrm>
            <a:off x="5897880" y="1828800"/>
            <a:ext cx="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arch-Amazon"/>
          <p:cNvSpPr/>
          <p:nvPr/>
        </p:nvSpPr>
        <p:spPr>
          <a:xfrm>
            <a:off x="45720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Amazon</a:t>
            </a:r>
            <a:endParaRPr lang="en-US" sz="1100" dirty="0"/>
          </a:p>
        </p:txBody>
      </p:sp>
      <p:sp>
        <p:nvSpPr>
          <p:cNvPr id="19" name="arch-Flipkart"/>
          <p:cNvSpPr/>
          <p:nvPr/>
        </p:nvSpPr>
        <p:spPr>
          <a:xfrm>
            <a:off x="182880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2880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Flipkart</a:t>
            </a:r>
            <a:endParaRPr lang="en-US" sz="1100" dirty="0"/>
          </a:p>
        </p:txBody>
      </p:sp>
      <p:sp>
        <p:nvSpPr>
          <p:cNvPr id="21" name="arch-Snapdeal"/>
          <p:cNvSpPr/>
          <p:nvPr/>
        </p:nvSpPr>
        <p:spPr>
          <a:xfrm>
            <a:off x="320040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Snapdeal</a:t>
            </a:r>
            <a:endParaRPr lang="en-US" sz="1100" dirty="0"/>
          </a:p>
        </p:txBody>
      </p:sp>
      <p:sp>
        <p:nvSpPr>
          <p:cNvPr id="23" name="arch-Vijay Sales"/>
          <p:cNvSpPr/>
          <p:nvPr/>
        </p:nvSpPr>
        <p:spPr>
          <a:xfrm>
            <a:off x="457200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Vijay Sales</a:t>
            </a:r>
            <a:endParaRPr lang="en-US" sz="1100" dirty="0"/>
          </a:p>
        </p:txBody>
      </p:sp>
      <p:sp>
        <p:nvSpPr>
          <p:cNvPr id="25" name="arch-Croma"/>
          <p:cNvSpPr/>
          <p:nvPr/>
        </p:nvSpPr>
        <p:spPr>
          <a:xfrm>
            <a:off x="594360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Croma</a:t>
            </a:r>
            <a:endParaRPr lang="en-US" sz="1100" dirty="0"/>
          </a:p>
        </p:txBody>
      </p:sp>
      <p:sp>
        <p:nvSpPr>
          <p:cNvPr id="27" name="arch-Reliance Digital"/>
          <p:cNvSpPr/>
          <p:nvPr/>
        </p:nvSpPr>
        <p:spPr>
          <a:xfrm>
            <a:off x="731520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Reliance Digital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Store adapters run in a thread pool: the search takes as long as the slowest store, not the sum</a:t>
            </a:r>
            <a:endParaRPr lang="en-US" sz="1000" dirty="0"/>
          </a:p>
        </p:txBody>
      </p:sp>
      <p:sp>
        <p:nvSpPr>
          <p:cNvPr id="30" name="arrow"/>
          <p:cNvSpPr/>
          <p:nvPr/>
        </p:nvSpPr>
        <p:spPr>
          <a:xfrm>
            <a:off x="4572000" y="32461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arch-Matching: normalise → spec / variant / model guards → Jaccard + fuzzy"/>
          <p:cNvSpPr/>
          <p:nvPr/>
        </p:nvSpPr>
        <p:spPr>
          <a:xfrm>
            <a:off x="2286000" y="3566160"/>
            <a:ext cx="457200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86000" y="3566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Matching: normalise → spec / variant / model guards → Jaccard + fuzzy</a:t>
            </a:r>
            <a:endParaRPr lang="en-US" sz="1100" dirty="0"/>
          </a:p>
        </p:txBody>
      </p:sp>
      <p:sp>
        <p:nvSpPr>
          <p:cNvPr id="33" name="arrow"/>
          <p:cNvSpPr/>
          <p:nvPr/>
        </p:nvSpPr>
        <p:spPr>
          <a:xfrm>
            <a:off x="4572000" y="406908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arch-Side-by-side table · 30-day sparklines · price-drop alerts (scheduled checker)"/>
          <p:cNvSpPr/>
          <p:nvPr/>
        </p:nvSpPr>
        <p:spPr>
          <a:xfrm>
            <a:off x="1371600" y="4315968"/>
            <a:ext cx="6400800" cy="41148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371600" y="43159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Side-by-side table · 30-day sparklines · price-drop alerts (scheduled checker)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Getting the data: no store has a public API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source used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Amazon, Snapdeal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Server-rendered HTML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Stable enough; parsed with BeautifulSoup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Flipkart, Reliance Digital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JSON embedded in the page (window.__INITIAL_STATE__)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Far more stable than their hashed CSS class names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Vijay Sales, Croma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The JSON search service their own site calls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</a:rPr>
                        <a:t>Structured, fast, includes price and rating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s-0"/>
          <p:cNvSpPr/>
          <p:nvPr/>
        </p:nvSpPr>
        <p:spPr>
          <a:xfrm>
            <a:off x="457200" y="3429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Retries + CAPTCHA detection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Blocked pages raise a clear error instead of returning nothing.</a:t>
            </a:r>
            <a:endParaRPr lang="en-US" sz="1100" dirty="0"/>
          </a:p>
        </p:txBody>
      </p:sp>
      <p:sp>
        <p:nvSpPr>
          <p:cNvPr id="7" name="res-1"/>
          <p:cNvSpPr/>
          <p:nvPr/>
        </p:nvSpPr>
        <p:spPr>
          <a:xfrm>
            <a:off x="3291840" y="3429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Residential proxy on the host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Stores block cloud IPs (HTTP 403/503); the hosted copy routes through a proxy.</a:t>
            </a:r>
            <a:endParaRPr lang="en-US" sz="1100" dirty="0"/>
          </a:p>
        </p:txBody>
      </p:sp>
      <p:sp>
        <p:nvSpPr>
          <p:cNvPr id="10" name="res-2"/>
          <p:cNvSpPr/>
          <p:nvPr/>
        </p:nvSpPr>
        <p:spPr>
          <a:xfrm>
            <a:off x="6126480" y="3429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One fixture test per store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saved copy of each real search page; breaks the build when a store changes its markup.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Product matching: explainable rules, measured</a:t>
            </a:r>
            <a:endParaRPr lang="en-US" sz="2800" dirty="0"/>
          </a:p>
        </p:txBody>
      </p:sp>
      <p:sp>
        <p:nvSpPr>
          <p:cNvPr id="3" name="num-1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-label-1"/>
          <p:cNvSpPr txBox="1"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Normalise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188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lower-case, tokenise; "128 GB" → 128gb; "15.40 cm" → 15d40cm; WH-1000XM5 kept whole; "Pro+" → pro plus; filler words removed</a:t>
            </a:r>
            <a:endParaRPr lang="en-US" sz="1200" dirty="0"/>
          </a:p>
        </p:txBody>
      </p:sp>
      <p:sp>
        <p:nvSpPr>
          <p:cNvPr id="7" name="sep-0"/>
          <p:cNvSpPr/>
          <p:nvPr/>
        </p:nvSpPr>
        <p:spPr>
          <a:xfrm>
            <a:off x="2286000" y="1993392"/>
            <a:ext cx="6400800" cy="0"/>
          </a:xfrm>
          <a:prstGeom prst="line">
            <a:avLst/>
          </a:prstGeom>
          <a:noFill/>
          <a:ln w="9525">
            <a:solidFill>
              <a:srgbClr val="E2E6F0"/>
            </a:solidFill>
            <a:prstDash val="solid"/>
          </a:ln>
        </p:spPr>
      </p:sp>
      <p:sp>
        <p:nvSpPr>
          <p:cNvPr id="8" name="num-2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-label-2"/>
          <p:cNvSpPr txBox="1"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Guard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057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specs must agree (8 GB ≠ 16 GB, RAM may be omitted); screen size within 1.5"; variant words (Pro, Max, Plus, Ultra) and model numbers (15 ≠ 16, Flip 5 ≠ Flip 6) must match</a:t>
            </a:r>
            <a:endParaRPr lang="en-US" sz="1200" dirty="0"/>
          </a:p>
        </p:txBody>
      </p:sp>
      <p:sp>
        <p:nvSpPr>
          <p:cNvPr id="12" name="sep-1"/>
          <p:cNvSpPr/>
          <p:nvPr/>
        </p:nvSpPr>
        <p:spPr>
          <a:xfrm>
            <a:off x="2286000" y="2862072"/>
            <a:ext cx="6400800" cy="0"/>
          </a:xfrm>
          <a:prstGeom prst="line">
            <a:avLst/>
          </a:prstGeom>
          <a:noFill/>
          <a:ln w="9525">
            <a:solidFill>
              <a:srgbClr val="E2E6F0"/>
            </a:solidFill>
            <a:prstDash val="solid"/>
          </a:ln>
        </p:spPr>
      </p:sp>
      <p:sp>
        <p:nvSpPr>
          <p:cNvPr id="13" name="num-3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-label-3"/>
          <p:cNvSpPr txBox="1"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Jaccard overlap of word sets ≥ 0.45; a shared model code (G502) is enough on its own; a fuzzy string score rescues "Fire-Boltt" vs "Fire Boltt"</a:t>
            </a:r>
            <a:endParaRPr lang="en-US" sz="1200" dirty="0"/>
          </a:p>
        </p:txBody>
      </p:sp>
      <p:sp>
        <p:nvSpPr>
          <p:cNvPr id="17" name="sep-2"/>
          <p:cNvSpPr/>
          <p:nvPr/>
        </p:nvSpPr>
        <p:spPr>
          <a:xfrm>
            <a:off x="2286000" y="3730752"/>
            <a:ext cx="6400800" cy="0"/>
          </a:xfrm>
          <a:prstGeom prst="line">
            <a:avLst/>
          </a:prstGeom>
          <a:noFill/>
          <a:ln w="9525">
            <a:solidFill>
              <a:srgbClr val="E2E6F0"/>
            </a:solidFill>
            <a:prstDash val="solid"/>
          </a:ln>
        </p:spPr>
      </p:sp>
      <p:sp>
        <p:nvSpPr>
          <p:cNvPr id="18" name="num-4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um-label-4"/>
          <p:cNvSpPr txBox="1"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Cluster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greedy, cheapest first → one row per product; accessories sink; rows ranked by query match and store count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Features completed for the midterm</a:t>
            </a:r>
            <a:endParaRPr lang="en-US" sz="2800" dirty="0"/>
          </a:p>
        </p:txBody>
      </p:sp>
      <p:sp>
        <p:nvSpPr>
          <p:cNvPr id="3" name="feat-0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4" name="feat-dot-0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Progressive loading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Page renders at once; each store column fills in as it answers (0.4 s to 9 s), then the comparison is built.</a:t>
            </a:r>
            <a:endParaRPr lang="en-US" sz="1200" dirty="0"/>
          </a:p>
        </p:txBody>
      </p:sp>
      <p:sp>
        <p:nvSpPr>
          <p:cNvPr id="7" name="feat-1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8" name="feat-dot-1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30-day price history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price per listing per day; sparkline, 30-day low and a "lowest in N days" flag per row.</a:t>
            </a:r>
            <a:endParaRPr lang="en-US" sz="1200" dirty="0"/>
          </a:p>
        </p:txBody>
      </p:sp>
      <p:sp>
        <p:nvSpPr>
          <p:cNvPr id="11" name="feat-2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2" name="feat-dot-2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Price-drop alerts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Email + target price on any row; a scheduled checker re-searches and emails when a store goes below it.</a:t>
            </a:r>
            <a:endParaRPr lang="en-US" sz="1200" dirty="0"/>
          </a:p>
        </p:txBody>
      </p:sp>
      <p:sp>
        <p:nvSpPr>
          <p:cNvPr id="15" name="feat-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6" name="feat-dot-3"/>
          <p:cNvSpPr/>
          <p:nvPr/>
        </p:nvSpPr>
        <p:spPr>
          <a:xfrm>
            <a:off x="4892040" y="31546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 more stores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Croma (JSON API) and Reliance Digital (embedded page state), with fixtures and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results page</a:t>
            </a:r>
            <a:endParaRPr lang="en-US" sz="2800" dirty="0"/>
          </a:p>
        </p:txBody>
      </p:sp>
      <p:pic>
        <p:nvPicPr>
          <p:cNvPr id="3" name="results screenshot" descr="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120640" cy="3657600"/>
          </a:xfrm>
          <a:prstGeom prst="rect">
            <a:avLst/>
          </a:prstGeom>
        </p:spPr>
      </p:pic>
      <p:sp>
        <p:nvSpPr>
          <p:cNvPr id="4" name="num-1"/>
          <p:cNvSpPr/>
          <p:nvPr/>
        </p:nvSpPr>
        <p:spPr>
          <a:xfrm>
            <a:off x="6217920" y="11430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-label-1"/>
          <p:cNvSpPr txBox="1"/>
          <p:nvPr/>
        </p:nvSpPr>
        <p:spPr>
          <a:xfrm>
            <a:off x="62179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124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Summary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4356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stores answered, offers, products, lowest price</a:t>
            </a:r>
            <a:endParaRPr lang="en-US" sz="1050" dirty="0"/>
          </a:p>
        </p:txBody>
      </p:sp>
      <p:sp>
        <p:nvSpPr>
          <p:cNvPr id="8" name="num-2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-label-2"/>
          <p:cNvSpPr txBox="1"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Comparison table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3042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one row per product, lowest cell highlighted, saving</a:t>
            </a:r>
            <a:endParaRPr lang="en-US" sz="1050" dirty="0"/>
          </a:p>
        </p:txBody>
      </p:sp>
      <p:sp>
        <p:nvSpPr>
          <p:cNvPr id="12" name="num-3"/>
          <p:cNvSpPr/>
          <p:nvPr/>
        </p:nvSpPr>
        <p:spPr>
          <a:xfrm>
            <a:off x="6217920" y="28803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-label-3"/>
          <p:cNvSpPr txBox="1"/>
          <p:nvPr/>
        </p:nvSpPr>
        <p:spPr>
          <a:xfrm>
            <a:off x="6217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862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30-day trend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3172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sparkline + lowest-in-N-days flag</a:t>
            </a:r>
            <a:endParaRPr lang="en-US" sz="1050" dirty="0"/>
          </a:p>
        </p:txBody>
      </p:sp>
      <p:sp>
        <p:nvSpPr>
          <p:cNvPr id="16" name="num-4"/>
          <p:cNvSpPr/>
          <p:nvPr/>
        </p:nvSpPr>
        <p:spPr>
          <a:xfrm>
            <a:off x="6217920" y="3749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-label-4"/>
          <p:cNvSpPr txBox="1"/>
          <p:nvPr/>
        </p:nvSpPr>
        <p:spPr>
          <a:xfrm>
            <a:off x="6217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Alert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4041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set a target price on any row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Measured: matcher accuracy on 78 labelled pairs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0"/>
          <p:cNvSpPr/>
          <p:nvPr/>
        </p:nvSpPr>
        <p:spPr>
          <a:xfrm>
            <a:off x="5943600" y="114300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344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78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2344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hand-labelled title pairs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(40 same, 38 different)</a:t>
            </a:r>
            <a:endParaRPr lang="en-US" sz="1050" dirty="0"/>
          </a:p>
        </p:txBody>
      </p:sp>
      <p:sp>
        <p:nvSpPr>
          <p:cNvPr id="7" name="stat-1"/>
          <p:cNvSpPr/>
          <p:nvPr/>
        </p:nvSpPr>
        <p:spPr>
          <a:xfrm>
            <a:off x="5943600" y="233172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231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93.6%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24231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accuracy now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(80.8% before)</a:t>
            </a:r>
            <a:endParaRPr lang="en-US" sz="1050" dirty="0"/>
          </a:p>
        </p:txBody>
      </p:sp>
      <p:sp>
        <p:nvSpPr>
          <p:cNvPr id="10" name="stat-2"/>
          <p:cNvSpPr/>
          <p:nvPr/>
        </p:nvSpPr>
        <p:spPr>
          <a:xfrm>
            <a:off x="5943600" y="352044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11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69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6118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automated tests,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all passing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Deployed and working today</a:t>
            </a:r>
            <a:endParaRPr lang="en-US" sz="2800" dirty="0"/>
          </a:p>
        </p:txBody>
      </p:sp>
      <p:sp>
        <p:nvSpPr>
          <p:cNvPr id="3" name="big-0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stores searched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 parallel</a:t>
            </a:r>
            <a:endParaRPr lang="en-US" sz="1100" dirty="0"/>
          </a:p>
        </p:txBody>
      </p:sp>
      <p:sp>
        <p:nvSpPr>
          <p:cNvPr id="6" name="big-1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product rows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"iphone 15" live</a:t>
            </a:r>
            <a:endParaRPr lang="en-US" sz="1100" dirty="0"/>
          </a:p>
        </p:txBody>
      </p:sp>
      <p:sp>
        <p:nvSpPr>
          <p:cNvPr id="9" name="big-2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0.4–9.2 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per-store 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(Vijay Sales to Flipkart)</a:t>
            </a:r>
            <a:endParaRPr lang="en-US" sz="1100" dirty="0"/>
          </a:p>
        </p:txBody>
      </p:sp>
      <p:sp>
        <p:nvSpPr>
          <p:cNvPr id="12" name="big-3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 h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result cache, 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repeats are instant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Live at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price-compare-alpha-lime.vercel.app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Source on GitHub with feature-level commits · runs locally (make dev / make demo) and in Docker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Demo mode with simulated stores for offline presentations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Live demo: search "iphone 15" → columns fill in as stores answer → comparison table → set an alert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Challenges and current limitations</a:t>
            </a:r>
            <a:endParaRPr lang="en-US" sz="2800" dirty="0"/>
          </a:p>
        </p:txBody>
      </p:sp>
      <p:sp>
        <p:nvSpPr>
          <p:cNvPr id="3" name="ch-dot-0"/>
          <p:cNvSpPr/>
          <p:nvPr/>
        </p:nvSpPr>
        <p:spPr>
          <a:xfrm>
            <a:off x="457200" y="1298448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Bot protection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188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Stores block data-centre IPs. Solved with a residential proxy; Croma's API also needed the storefront channel code, found by testing from the cloud.</a:t>
            </a:r>
            <a:endParaRPr lang="en-US" sz="1200" dirty="0"/>
          </a:p>
        </p:txBody>
      </p:sp>
      <p:sp>
        <p:nvSpPr>
          <p:cNvPr id="6" name="ch-dot-1"/>
          <p:cNvSpPr/>
          <p:nvPr/>
        </p:nvSpPr>
        <p:spPr>
          <a:xfrm>
            <a:off x="457200" y="2167128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Fragile markup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057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Store HTML changes without notice. Prefer embedded JSON and search APIs; fixture tests catch breakage.</a:t>
            </a:r>
            <a:endParaRPr lang="en-US" sz="1200" dirty="0"/>
          </a:p>
        </p:txBody>
      </p:sp>
      <p:sp>
        <p:nvSpPr>
          <p:cNvPr id="9" name="ch-dot-2"/>
          <p:cNvSpPr/>
          <p:nvPr/>
        </p:nvSpPr>
        <p:spPr>
          <a:xfrm>
            <a:off x="457200" y="3035808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Matching ambiguity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9260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"MX Master" vs "MX Anywhere" differ by one word; rules cannot know that. A learned classifier is a possible extension.</a:t>
            </a:r>
            <a:endParaRPr lang="en-US" sz="1200" dirty="0"/>
          </a:p>
        </p:txBody>
      </p:sp>
      <p:sp>
        <p:nvSpPr>
          <p:cNvPr id="12" name="ch-dot-3"/>
          <p:cNvSpPr/>
          <p:nvPr/>
        </p:nvSpPr>
        <p:spPr>
          <a:xfrm>
            <a:off x="457200" y="3904488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794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Serverless storage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7947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Vercel only a temp folder is writable, so history and alerts reset on restart. Needs a hosted database.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Plan for the second half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1097280" y="1874520"/>
            <a:ext cx="6949440" cy="0"/>
          </a:xfrm>
          <a:prstGeom prst="line">
            <a:avLst/>
          </a:prstGeom>
          <a:noFill/>
          <a:ln w="25400">
            <a:solidFill>
              <a:srgbClr val="D9DCE8"/>
            </a:solidFill>
            <a:prstDash val="solid"/>
          </a:ln>
        </p:spPr>
      </p:sp>
      <p:sp>
        <p:nvSpPr>
          <p:cNvPr id="4" name="plan-dot-0"/>
          <p:cNvSpPr/>
          <p:nvPr/>
        </p:nvSpPr>
        <p:spPr>
          <a:xfrm>
            <a:off x="1051560" y="16916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Done</a:t>
            </a:r>
            <a:endParaRPr lang="en-US" sz="1600" dirty="0"/>
          </a:p>
        </p:txBody>
      </p:sp>
      <p:sp>
        <p:nvSpPr>
          <p:cNvPr id="6" name="plan-0"/>
          <p:cNvSpPr/>
          <p:nvPr/>
        </p:nvSpPr>
        <p:spPr>
          <a:xfrm>
            <a:off x="457200" y="2286000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Adapters, matching, cache, deploy, progressive UI, history, alerts, evaluation set</a:t>
            </a:r>
            <a:endParaRPr lang="en-US" sz="1200" dirty="0"/>
          </a:p>
        </p:txBody>
      </p:sp>
      <p:sp>
        <p:nvSpPr>
          <p:cNvPr id="8" name="plan-dot-1"/>
          <p:cNvSpPr/>
          <p:nvPr/>
        </p:nvSpPr>
        <p:spPr>
          <a:xfrm>
            <a:off x="3200400" y="16916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</a:t>
            </a:r>
            <a:endParaRPr lang="en-US" sz="1600" dirty="0"/>
          </a:p>
        </p:txBody>
      </p:sp>
      <p:sp>
        <p:nvSpPr>
          <p:cNvPr id="10" name="plan-1"/>
          <p:cNvSpPr/>
          <p:nvPr/>
        </p:nvSpPr>
        <p:spPr>
          <a:xfrm>
            <a:off x="2606040" y="2286000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2377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Hosted Postgres / Redis so history and alerts persist in production</a:t>
            </a:r>
            <a:endParaRPr lang="en-US" sz="1200" dirty="0"/>
          </a:p>
        </p:txBody>
      </p:sp>
      <p:sp>
        <p:nvSpPr>
          <p:cNvPr id="12" name="plan-dot-2"/>
          <p:cNvSpPr/>
          <p:nvPr/>
        </p:nvSpPr>
        <p:spPr>
          <a:xfrm>
            <a:off x="5349240" y="16916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Then</a:t>
            </a:r>
            <a:endParaRPr lang="en-US" sz="1600" dirty="0"/>
          </a:p>
        </p:txBody>
      </p:sp>
      <p:sp>
        <p:nvSpPr>
          <p:cNvPr id="14" name="plan-2"/>
          <p:cNvSpPr/>
          <p:nvPr/>
        </p:nvSpPr>
        <p:spPr>
          <a:xfrm>
            <a:off x="4754880" y="2286000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2377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 on every push, auto-deploy from GitHub; 200+ labelled pairs; learned matcher vs rules</a:t>
            </a:r>
            <a:endParaRPr lang="en-US" sz="1200" dirty="0"/>
          </a:p>
        </p:txBody>
      </p:sp>
      <p:sp>
        <p:nvSpPr>
          <p:cNvPr id="16" name="plan-dot-3"/>
          <p:cNvSpPr/>
          <p:nvPr/>
        </p:nvSpPr>
        <p:spPr>
          <a:xfrm>
            <a:off x="7498080" y="16916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Final</a:t>
            </a:r>
            <a:endParaRPr lang="en-US" sz="1600" dirty="0"/>
          </a:p>
        </p:txBody>
      </p:sp>
      <p:sp>
        <p:nvSpPr>
          <p:cNvPr id="18" name="plan-3"/>
          <p:cNvSpPr/>
          <p:nvPr/>
        </p:nvSpPr>
        <p:spPr>
          <a:xfrm>
            <a:off x="6903720" y="2286000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F1F2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2377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study (10–15 people), final report and presentation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 · Questions?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Live: price-compare-alpha-lime.vercel.app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Code: github.com/alizeeshan1234/price-compare-capstone-project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ceCompare">
  <a:themeElements>
    <a:clrScheme name="PriceCompare">
      <a:dk1>
        <a:srgbClr val="1B1F33"/>
      </a:dk1>
      <a:lt1>
        <a:srgbClr val="FFFFFF"/>
      </a:lt1>
      <a:dk2>
        <a:srgbClr val="2B2F6B"/>
      </a:dk2>
      <a:lt2>
        <a:srgbClr val="F1F2F9"/>
      </a:lt2>
      <a:accent1>
        <a:srgbClr val="5B5BF6"/>
      </a:accent1>
      <a:accent2>
        <a:srgbClr val="059669"/>
      </a:accent2>
      <a:accent3>
        <a:srgbClr val="8B5CF6"/>
      </a:accent3>
      <a:accent4>
        <a:srgbClr val="E11D48"/>
      </a:accent4>
      <a:accent5>
        <a:srgbClr val="D97706"/>
      </a:accent5>
      <a:accent6>
        <a:srgbClr val="64748B"/>
      </a:accent6>
      <a:hlink>
        <a:srgbClr val="5B5BF6"/>
      </a:hlink>
      <a:folHlink>
        <a:srgbClr val="8B5CF6"/>
      </a:folHlink>
    </a:clrScheme>
    <a:fontScheme name="PriceCompa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PriceCompare – Midterm Seminar</dc:title>
  <dc:subject>PptxGenJS Presentation</dc:subject>
  <dc:creator>PriceCompare project</dc:creator>
  <cp:lastModifiedBy>PriceCompare project</cp:lastModifiedBy>
  <cp:revision>1</cp:revision>
  <dcterms:created xsi:type="dcterms:W3CDTF">2026-10-06T18:22:03Z</dcterms:created>
  <dcterms:modified xsi:type="dcterms:W3CDTF">2026-10-06T18:22:03Z</dcterms:modified>
</cp:coreProperties>
</file>